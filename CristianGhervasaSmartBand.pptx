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301" r:id="rId3"/>
    <p:sldId id="258" r:id="rId4"/>
    <p:sldId id="266" r:id="rId5"/>
    <p:sldId id="317" r:id="rId6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9"/>
    </p:embeddedFont>
    <p:embeddedFont>
      <p:font typeface="Lato" panose="020F0502020204030203" pitchFamily="34" charset="0"/>
      <p:regular r:id="rId10"/>
      <p:bold r:id="rId11"/>
      <p:italic r:id="rId12"/>
      <p:boldItalic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  <p:embeddedFont>
      <p:font typeface="Sora SemiBold" panose="020B0604020202020204" charset="0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7" roundtripDataSignature="AMtx7mjklaCVvtpHUWSNd0ixSQ+jquZ75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3799B01-314C-49CC-DB20-C95367B9D319}" name="Cristina Gutiérrez Jiménez" initials="CG" userId="S::cgutierrez@freepikco.onmicrosoft.com::9b066b6f-0938-49e6-9aab-2bba891a0f35" providerId="AD"/>
  <p188:author id="{07507977-5039-A8F7-4EA5-74658BDCF63F}" name="jmolinos@intranet.freepikcompany.com" initials="j" userId="S-1-5-21-179105700-2695781124-4246538168-24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2C2A96"/>
    <a:srgbClr val="000000"/>
    <a:srgbClr val="FFFFFF"/>
    <a:srgbClr val="667E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DF7B9C-EBDF-46A0-83E7-B09A4955A7FC}">
  <a:tblStyle styleId="{A6DF7B9C-EBDF-46A0-83E7-B09A4955A7F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12" autoAdjust="0"/>
  </p:normalViewPr>
  <p:slideViewPr>
    <p:cSldViewPr snapToGrid="0" showGuides="1">
      <p:cViewPr varScale="1">
        <p:scale>
          <a:sx n="140" d="100"/>
          <a:sy n="140" d="100"/>
        </p:scale>
        <p:origin x="768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82" Type="http://schemas.microsoft.com/office/2018/10/relationships/authors" Target="authors.xml"/><Relationship Id="rId10" Type="http://schemas.openxmlformats.org/officeDocument/2006/relationships/font" Target="fonts/font2.fntdata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77" Type="http://customschemas.google.com/relationships/presentationmetadata" Target="meta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E31DFB-DBB3-AA60-7A6C-2A4A2F7F6E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0449E5-1312-2FA6-E29F-1F0F0D3CA9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96FE1-22E7-4AE4-8C76-B00C76814543}" type="datetimeFigureOut">
              <a:rPr lang="es-ES" smtClean="0"/>
              <a:t>10/05/2025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D1F64-243D-6721-A717-7011DEE740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0932CC-B4C6-2646-5100-DF9301D2DF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CFACC9-2CF6-473D-A817-FB7A1582230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439795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6505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4D7843B1-1506-043F-7E70-B3409D39B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>
            <a:extLst>
              <a:ext uri="{FF2B5EF4-FFF2-40B4-BE49-F238E27FC236}">
                <a16:creationId xmlns:a16="http://schemas.microsoft.com/office/drawing/2014/main" id="{37402C67-DBD0-CB09-E428-3C267289E4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>
            <a:extLst>
              <a:ext uri="{FF2B5EF4-FFF2-40B4-BE49-F238E27FC236}">
                <a16:creationId xmlns:a16="http://schemas.microsoft.com/office/drawing/2014/main" id="{01A8ACE1-20C3-C76A-1BC1-044330E2B4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5212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4572000" y="1703437"/>
            <a:ext cx="3848100" cy="11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Bebas Neue"/>
              <a:buNone/>
              <a:defRPr sz="4800">
                <a:solidFill>
                  <a:schemeClr val="bg2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4572000" y="2893255"/>
            <a:ext cx="3848100" cy="351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bg2"/>
                </a:solidFill>
                <a:latin typeface="Lato" panose="020F0502020204030203" pitchFamily="34" charset="0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bg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696200" cy="56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723900" y="1325526"/>
            <a:ext cx="7696200" cy="257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solidFill>
          <a:schemeClr val="accent6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6"/>
          <p:cNvSpPr txBox="1">
            <a:spLocks noGrp="1"/>
          </p:cNvSpPr>
          <p:nvPr>
            <p:ph type="title"/>
          </p:nvPr>
        </p:nvSpPr>
        <p:spPr>
          <a:xfrm>
            <a:off x="723900" y="3844151"/>
            <a:ext cx="7696199" cy="7468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bg2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bg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7"/>
          <p:cNvSpPr txBox="1">
            <a:spLocks noGrp="1"/>
          </p:cNvSpPr>
          <p:nvPr>
            <p:ph type="title"/>
          </p:nvPr>
        </p:nvSpPr>
        <p:spPr>
          <a:xfrm>
            <a:off x="723900" y="1543455"/>
            <a:ext cx="7696200" cy="1307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/>
              <a:buNone/>
              <a:defRPr sz="4800">
                <a:solidFill>
                  <a:schemeClr val="bg1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27"/>
          <p:cNvSpPr txBox="1">
            <a:spLocks noGrp="1"/>
          </p:cNvSpPr>
          <p:nvPr>
            <p:ph type="body" idx="1"/>
          </p:nvPr>
        </p:nvSpPr>
        <p:spPr>
          <a:xfrm>
            <a:off x="723900" y="2850609"/>
            <a:ext cx="7696200" cy="495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tx1"/>
                </a:solidFill>
                <a:latin typeface="Lato" panose="020F0502020204030203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4451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userDrawn="1">
  <p:cSld name="Table of contents">
    <p:bg>
      <p:bgPr>
        <a:solidFill>
          <a:schemeClr val="bg2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696200" cy="525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17"/>
          <p:cNvSpPr txBox="1">
            <a:spLocks noGrp="1"/>
          </p:cNvSpPr>
          <p:nvPr>
            <p:ph type="body" idx="1"/>
          </p:nvPr>
        </p:nvSpPr>
        <p:spPr>
          <a:xfrm>
            <a:off x="1773778" y="2296552"/>
            <a:ext cx="2550242" cy="525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Lato" panose="020F0502020204030203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2"/>
          </p:nvPr>
        </p:nvSpPr>
        <p:spPr>
          <a:xfrm>
            <a:off x="1773778" y="1527393"/>
            <a:ext cx="2550242" cy="78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 b="1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Google Shape;24;p17"/>
          <p:cNvSpPr txBox="1">
            <a:spLocks noGrp="1"/>
          </p:cNvSpPr>
          <p:nvPr>
            <p:ph type="body" idx="3"/>
          </p:nvPr>
        </p:nvSpPr>
        <p:spPr>
          <a:xfrm>
            <a:off x="853884" y="1711688"/>
            <a:ext cx="785424" cy="5298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 b="1">
                <a:solidFill>
                  <a:schemeClr val="bg2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4"/>
          </p:nvPr>
        </p:nvSpPr>
        <p:spPr>
          <a:xfrm>
            <a:off x="5734151" y="2296552"/>
            <a:ext cx="2550242" cy="525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Lato" panose="020F0502020204030203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6" name="Google Shape;26;p17"/>
          <p:cNvSpPr txBox="1">
            <a:spLocks noGrp="1"/>
          </p:cNvSpPr>
          <p:nvPr>
            <p:ph type="body" idx="5"/>
          </p:nvPr>
        </p:nvSpPr>
        <p:spPr>
          <a:xfrm>
            <a:off x="5734153" y="1527394"/>
            <a:ext cx="2550242" cy="78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 b="1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7" name="Google Shape;27;p17"/>
          <p:cNvSpPr txBox="1">
            <a:spLocks noGrp="1"/>
          </p:cNvSpPr>
          <p:nvPr>
            <p:ph type="body" idx="6"/>
          </p:nvPr>
        </p:nvSpPr>
        <p:spPr>
          <a:xfrm>
            <a:off x="4834213" y="1712700"/>
            <a:ext cx="765470" cy="5258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 b="1">
                <a:solidFill>
                  <a:schemeClr val="bg2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8" name="Google Shape;28;p17"/>
          <p:cNvSpPr txBox="1">
            <a:spLocks noGrp="1"/>
          </p:cNvSpPr>
          <p:nvPr>
            <p:ph type="body" idx="7"/>
          </p:nvPr>
        </p:nvSpPr>
        <p:spPr>
          <a:xfrm>
            <a:off x="5734151" y="3893717"/>
            <a:ext cx="2550242" cy="54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Lato" panose="020F0502020204030203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8"/>
          </p:nvPr>
        </p:nvSpPr>
        <p:spPr>
          <a:xfrm>
            <a:off x="5734151" y="3164560"/>
            <a:ext cx="2550242" cy="78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 b="1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9"/>
          </p:nvPr>
        </p:nvSpPr>
        <p:spPr>
          <a:xfrm>
            <a:off x="4834211" y="3346890"/>
            <a:ext cx="765470" cy="5258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 b="1">
                <a:solidFill>
                  <a:schemeClr val="bg2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3"/>
          </p:nvPr>
        </p:nvSpPr>
        <p:spPr>
          <a:xfrm>
            <a:off x="1773778" y="3893716"/>
            <a:ext cx="2550242" cy="54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Lato" panose="020F0502020204030203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14"/>
          </p:nvPr>
        </p:nvSpPr>
        <p:spPr>
          <a:xfrm>
            <a:off x="1773778" y="3164559"/>
            <a:ext cx="2550242" cy="78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 b="1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5"/>
          </p:nvPr>
        </p:nvSpPr>
        <p:spPr>
          <a:xfrm>
            <a:off x="853884" y="3349865"/>
            <a:ext cx="785424" cy="5258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 b="1">
                <a:solidFill>
                  <a:schemeClr val="bg2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solidFill>
          <a:schemeClr val="bg2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696200" cy="528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1"/>
          </p:nvPr>
        </p:nvSpPr>
        <p:spPr>
          <a:xfrm>
            <a:off x="723901" y="3078954"/>
            <a:ext cx="2531804" cy="839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>
                <a:solidFill>
                  <a:schemeClr val="tx1"/>
                </a:solidFill>
                <a:latin typeface="Lato" panose="020F0502020204030203" pitchFamily="34" charset="0"/>
              </a:defRPr>
            </a:lvl1pPr>
            <a:lvl2pPr marL="914400" lvl="1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2"/>
          </p:nvPr>
        </p:nvSpPr>
        <p:spPr>
          <a:xfrm>
            <a:off x="3306099" y="3078954"/>
            <a:ext cx="2531804" cy="839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>
                <a:solidFill>
                  <a:schemeClr val="tx1"/>
                </a:solidFill>
                <a:latin typeface="Lato" panose="020F0502020204030203" pitchFamily="34" charset="0"/>
              </a:defRPr>
            </a:lvl1pPr>
            <a:lvl2pPr marL="914400" lvl="1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1" name="Google Shape;51;p21"/>
          <p:cNvSpPr txBox="1">
            <a:spLocks noGrp="1"/>
          </p:cNvSpPr>
          <p:nvPr>
            <p:ph type="body" idx="3"/>
          </p:nvPr>
        </p:nvSpPr>
        <p:spPr>
          <a:xfrm>
            <a:off x="723901" y="2686471"/>
            <a:ext cx="2531804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 b="1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52" name="Google Shape;52;p21"/>
          <p:cNvSpPr txBox="1">
            <a:spLocks noGrp="1"/>
          </p:cNvSpPr>
          <p:nvPr>
            <p:ph type="body" idx="4"/>
          </p:nvPr>
        </p:nvSpPr>
        <p:spPr>
          <a:xfrm>
            <a:off x="3306098" y="2684793"/>
            <a:ext cx="2531804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 b="1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53" name="Google Shape;53;p21"/>
          <p:cNvSpPr txBox="1">
            <a:spLocks noGrp="1"/>
          </p:cNvSpPr>
          <p:nvPr>
            <p:ph type="body" idx="5"/>
          </p:nvPr>
        </p:nvSpPr>
        <p:spPr>
          <a:xfrm>
            <a:off x="5888296" y="3078953"/>
            <a:ext cx="2531804" cy="839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>
                <a:solidFill>
                  <a:schemeClr val="tx1"/>
                </a:solidFill>
                <a:latin typeface="Lato" panose="020F0502020204030203" pitchFamily="34" charset="0"/>
              </a:defRPr>
            </a:lvl1pPr>
            <a:lvl2pPr marL="914400" lvl="1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4" name="Google Shape;54;p21"/>
          <p:cNvSpPr txBox="1">
            <a:spLocks noGrp="1"/>
          </p:cNvSpPr>
          <p:nvPr>
            <p:ph type="body" idx="6"/>
          </p:nvPr>
        </p:nvSpPr>
        <p:spPr>
          <a:xfrm>
            <a:off x="5888297" y="2680643"/>
            <a:ext cx="2531804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 b="1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8;p21">
            <a:extLst>
              <a:ext uri="{FF2B5EF4-FFF2-40B4-BE49-F238E27FC236}">
                <a16:creationId xmlns:a16="http://schemas.microsoft.com/office/drawing/2014/main" id="{610FF660-843B-830C-355D-5F88BC8AC7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696200" cy="51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6874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694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1598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DE8A828-225D-A17D-2193-919821C30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1"/>
            <a:ext cx="7696200" cy="560732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21E021-4DD6-BC25-96F6-228BE5876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3900" y="1451429"/>
            <a:ext cx="7696200" cy="3139621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9" r:id="rId3"/>
    <p:sldLayoutId id="2147483660" r:id="rId4"/>
    <p:sldLayoutId id="2147483661" r:id="rId5"/>
    <p:sldLayoutId id="2147483667" r:id="rId6"/>
    <p:sldLayoutId id="2147483651" r:id="rId7"/>
    <p:sldLayoutId id="2147483655" r:id="rId8"/>
    <p:sldLayoutId id="2147483663" r:id="rId9"/>
    <p:sldLayoutId id="2147483668" r:id="rId10"/>
    <p:sldLayoutId id="214748366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500" b="1" i="0" u="none" strike="noStrike" cap="none">
          <a:solidFill>
            <a:schemeClr val="bg2"/>
          </a:solidFill>
          <a:latin typeface="Sora SemiBold" panose="020B0604020202020204" charset="0"/>
          <a:ea typeface="Sora SemiBold" panose="020B0604020202020204" charset="0"/>
          <a:cs typeface="Sora SemiBold" panose="020B060402020202020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chemeClr val="bg2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9.sv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hyperlink" Target="http://iota.ee.tuiasi.ro/~eme/" TargetMode="External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1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5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5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5FF3D5-0FD7-7EFF-9C97-CA0C30E2C124}"/>
              </a:ext>
            </a:extLst>
          </p:cNvPr>
          <p:cNvSpPr/>
          <p:nvPr/>
        </p:nvSpPr>
        <p:spPr>
          <a:xfrm>
            <a:off x="0" y="-2"/>
            <a:ext cx="9144000" cy="51435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23BA069-B8CB-3BA1-308F-BCADDAB609D3}"/>
              </a:ext>
            </a:extLst>
          </p:cNvPr>
          <p:cNvGrpSpPr/>
          <p:nvPr/>
        </p:nvGrpSpPr>
        <p:grpSpPr>
          <a:xfrm>
            <a:off x="-258098" y="4115513"/>
            <a:ext cx="3691861" cy="1093386"/>
            <a:chOff x="-258098" y="4115513"/>
            <a:chExt cx="3691861" cy="1093386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CA02A2D1-2990-1FBE-B22E-F0B7A8902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0" y="4115513"/>
              <a:ext cx="3433763" cy="1027987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C6DE0FF-9381-0776-6E49-EA9888BD3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58098" y="4267200"/>
              <a:ext cx="2924175" cy="876300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B0FB0BC-0528-DD8D-B5C0-EC95D420A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56997" y="4437574"/>
              <a:ext cx="2521974" cy="771325"/>
            </a:xfrm>
            <a:prstGeom prst="rect">
              <a:avLst/>
            </a:prstGeom>
          </p:spPr>
        </p:pic>
      </p:grpSp>
      <p:sp>
        <p:nvSpPr>
          <p:cNvPr id="77" name="Google Shape;77;p1"/>
          <p:cNvSpPr txBox="1">
            <a:spLocks noGrp="1"/>
          </p:cNvSpPr>
          <p:nvPr>
            <p:ph type="ctrTitle"/>
          </p:nvPr>
        </p:nvSpPr>
        <p:spPr>
          <a:xfrm>
            <a:off x="3901442" y="260611"/>
            <a:ext cx="4175022" cy="2114551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B</a:t>
            </a:r>
            <a:r>
              <a:rPr lang="ro-RO" dirty="0">
                <a:solidFill>
                  <a:schemeClr val="bg1"/>
                </a:solidFill>
              </a:rPr>
              <a:t>RATARA SMART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78" name="Google Shape;78;p1"/>
          <p:cNvSpPr txBox="1">
            <a:spLocks noGrp="1"/>
          </p:cNvSpPr>
          <p:nvPr>
            <p:ph type="subTitle" idx="1"/>
          </p:nvPr>
        </p:nvSpPr>
        <p:spPr>
          <a:xfrm>
            <a:off x="3958439" y="2284938"/>
            <a:ext cx="4175022" cy="350837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ro-RO" dirty="0">
                <a:solidFill>
                  <a:schemeClr val="bg1"/>
                </a:solidFill>
              </a:rPr>
              <a:t>Student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b="1" dirty="0">
                <a:solidFill>
                  <a:schemeClr val="bg1"/>
                </a:solidFill>
              </a:rPr>
              <a:t>Cristian </a:t>
            </a:r>
            <a:r>
              <a:rPr lang="en-US" b="1" dirty="0" err="1">
                <a:solidFill>
                  <a:schemeClr val="bg1"/>
                </a:solidFill>
              </a:rPr>
              <a:t>Ghervas</a:t>
            </a:r>
            <a:r>
              <a:rPr lang="ro-RO" b="1" dirty="0">
                <a:solidFill>
                  <a:schemeClr val="bg1"/>
                </a:solidFill>
              </a:rPr>
              <a:t>ă</a:t>
            </a:r>
            <a:endParaRPr lang="en-US" b="1" dirty="0">
              <a:solidFill>
                <a:schemeClr val="bg1"/>
              </a:solidFill>
            </a:endParaRPr>
          </a:p>
          <a:p>
            <a:pPr lvl="0"/>
            <a:r>
              <a:rPr lang="en-US" noProof="0" dirty="0" err="1">
                <a:solidFill>
                  <a:schemeClr val="bg1"/>
                </a:solidFill>
              </a:rPr>
              <a:t>Profesor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ro-RO" b="1" dirty="0">
                <a:solidFill>
                  <a:schemeClr val="bg1"/>
                </a:solidFill>
              </a:rPr>
              <a:t>Marius – Ciprian Brânzilă</a:t>
            </a:r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5CD87F-D66E-BF4B-5281-F73CFD71EEA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rcRect/>
          <a:stretch/>
        </p:blipFill>
        <p:spPr>
          <a:xfrm>
            <a:off x="7567289" y="7930"/>
            <a:ext cx="1488841" cy="139274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A81A90B-87CB-B761-1769-566DFE746EEF}"/>
              </a:ext>
            </a:extLst>
          </p:cNvPr>
          <p:cNvGrpSpPr/>
          <p:nvPr/>
        </p:nvGrpSpPr>
        <p:grpSpPr>
          <a:xfrm>
            <a:off x="9280013" y="-215745"/>
            <a:ext cx="840423" cy="2851520"/>
            <a:chOff x="8405486" y="-381319"/>
            <a:chExt cx="840423" cy="2851520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B4E0322B-7053-EC28-BC85-4CE9377F0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405486" y="0"/>
              <a:ext cx="738514" cy="2470201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2E8A36F8-E340-FFFA-7663-3C449987E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695236" y="1"/>
              <a:ext cx="448764" cy="1747400"/>
            </a:xfrm>
            <a:prstGeom prst="rect">
              <a:avLst/>
            </a:prstGeom>
          </p:spPr>
        </p:pic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2DA1FD6B-F889-ACF2-9AFE-2D4926EE2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8853251" y="-381319"/>
              <a:ext cx="392658" cy="1283860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A04C22DB-5FE0-6421-235D-315AA2E4F71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0663" y="484422"/>
            <a:ext cx="3545904" cy="23639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696200" cy="528927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noProof="0" dirty="0"/>
              <a:t>Why is valuable?</a:t>
            </a:r>
          </a:p>
        </p:txBody>
      </p:sp>
      <p:sp>
        <p:nvSpPr>
          <p:cNvPr id="133" name="Google Shape;133;p7"/>
          <p:cNvSpPr txBox="1">
            <a:spLocks noGrp="1"/>
          </p:cNvSpPr>
          <p:nvPr>
            <p:ph type="body" idx="1"/>
          </p:nvPr>
        </p:nvSpPr>
        <p:spPr>
          <a:xfrm>
            <a:off x="723901" y="3078954"/>
            <a:ext cx="2531804" cy="83937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/>
            <a:r>
              <a:rPr lang="en-US" sz="1800" dirty="0"/>
              <a:t>Imagine being able to know within seconds that one of your employees is in a life threatening situation</a:t>
            </a:r>
            <a:endParaRPr lang="en-US" noProof="0" dirty="0"/>
          </a:p>
        </p:txBody>
      </p:sp>
      <p:sp>
        <p:nvSpPr>
          <p:cNvPr id="134" name="Google Shape;134;p7"/>
          <p:cNvSpPr txBox="1">
            <a:spLocks noGrp="1"/>
          </p:cNvSpPr>
          <p:nvPr>
            <p:ph type="body" idx="2"/>
          </p:nvPr>
        </p:nvSpPr>
        <p:spPr>
          <a:xfrm>
            <a:off x="3306099" y="3078954"/>
            <a:ext cx="2531804" cy="83937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Reduce the response time. By automatically sending alerts during emergencies such as falls, toxic gas exposure, or abnormal heart rates</a:t>
            </a:r>
            <a:endParaRPr lang="en-US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5" name="Google Shape;135;p7"/>
          <p:cNvSpPr txBox="1">
            <a:spLocks noGrp="1"/>
          </p:cNvSpPr>
          <p:nvPr>
            <p:ph type="body" idx="3"/>
          </p:nvPr>
        </p:nvSpPr>
        <p:spPr>
          <a:xfrm>
            <a:off x="625311" y="2685733"/>
            <a:ext cx="2728983" cy="392482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dirty="0" err="1"/>
              <a:t>Healty</a:t>
            </a:r>
            <a:r>
              <a:rPr lang="en-US" dirty="0"/>
              <a:t> at Risk!</a:t>
            </a:r>
            <a:endParaRPr lang="en-US" noProof="0" dirty="0"/>
          </a:p>
        </p:txBody>
      </p:sp>
      <p:sp>
        <p:nvSpPr>
          <p:cNvPr id="136" name="Google Shape;136;p7"/>
          <p:cNvSpPr txBox="1">
            <a:spLocks noGrp="1"/>
          </p:cNvSpPr>
          <p:nvPr>
            <p:ph type="body" idx="4"/>
          </p:nvPr>
        </p:nvSpPr>
        <p:spPr>
          <a:xfrm>
            <a:off x="3306098" y="2684793"/>
            <a:ext cx="2531804" cy="392482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noProof="0" dirty="0"/>
              <a:t>Automation</a:t>
            </a:r>
          </a:p>
        </p:txBody>
      </p:sp>
      <p:sp>
        <p:nvSpPr>
          <p:cNvPr id="137" name="Google Shape;137;p7"/>
          <p:cNvSpPr txBox="1">
            <a:spLocks noGrp="1"/>
          </p:cNvSpPr>
          <p:nvPr>
            <p:ph type="body" idx="5"/>
          </p:nvPr>
        </p:nvSpPr>
        <p:spPr>
          <a:xfrm>
            <a:off x="5888296" y="3078953"/>
            <a:ext cx="2531804" cy="83937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Monitoring of vital signs and environmental conditions. early detection of potential health issues or hazards.</a:t>
            </a:r>
            <a:endParaRPr lang="en-US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8" name="Google Shape;138;p7"/>
          <p:cNvSpPr txBox="1">
            <a:spLocks noGrp="1"/>
          </p:cNvSpPr>
          <p:nvPr>
            <p:ph type="body" idx="6"/>
          </p:nvPr>
        </p:nvSpPr>
        <p:spPr>
          <a:xfrm>
            <a:off x="5888297" y="2680643"/>
            <a:ext cx="2531804" cy="392482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noProof="0" dirty="0"/>
              <a:t>Real Time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2B68A4-334D-11C9-E0BF-5FAE2E02502D}"/>
              </a:ext>
            </a:extLst>
          </p:cNvPr>
          <p:cNvSpPr/>
          <p:nvPr/>
        </p:nvSpPr>
        <p:spPr>
          <a:xfrm>
            <a:off x="1793561" y="2077791"/>
            <a:ext cx="392483" cy="3924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79D471-D596-2895-3290-398B985720F5}"/>
              </a:ext>
            </a:extLst>
          </p:cNvPr>
          <p:cNvSpPr/>
          <p:nvPr/>
        </p:nvSpPr>
        <p:spPr>
          <a:xfrm>
            <a:off x="4375758" y="2077791"/>
            <a:ext cx="392484" cy="3924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6960D3-9CF6-3483-F551-A71B1E2FD52E}"/>
              </a:ext>
            </a:extLst>
          </p:cNvPr>
          <p:cNvSpPr/>
          <p:nvPr/>
        </p:nvSpPr>
        <p:spPr>
          <a:xfrm>
            <a:off x="6957956" y="2077791"/>
            <a:ext cx="392484" cy="3924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F0D2106-0867-9916-63CC-86971DA3C443}"/>
              </a:ext>
            </a:extLst>
          </p:cNvPr>
          <p:cNvGrpSpPr/>
          <p:nvPr/>
        </p:nvGrpSpPr>
        <p:grpSpPr>
          <a:xfrm rot="569504" flipH="1">
            <a:off x="-837090" y="4615469"/>
            <a:ext cx="1993929" cy="535641"/>
            <a:chOff x="6831797" y="4315899"/>
            <a:chExt cx="3227133" cy="8907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C82FE61F-30DC-6399-0A62-6C7B135A9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1797" y="4315899"/>
              <a:ext cx="2724237" cy="815572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E1663BC-4FF5-CDD4-EE5A-5E0832081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61" y="4446016"/>
              <a:ext cx="2319946" cy="695226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E37AE330-81C4-FB78-884C-12AE10817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78" y="4594705"/>
              <a:ext cx="2000852" cy="611945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1AE897B-7875-EB9F-CF80-C1F18412CAC0}"/>
              </a:ext>
            </a:extLst>
          </p:cNvPr>
          <p:cNvGrpSpPr/>
          <p:nvPr/>
        </p:nvGrpSpPr>
        <p:grpSpPr>
          <a:xfrm rot="11081131" flipH="1">
            <a:off x="6803327" y="-214506"/>
            <a:ext cx="2861949" cy="842186"/>
            <a:chOff x="6832729" y="4316100"/>
            <a:chExt cx="3226204" cy="890547"/>
          </a:xfrm>
        </p:grpSpPr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6E7721F2-0331-E43E-C497-BC3AE2F7D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2729" y="4316100"/>
              <a:ext cx="2724237" cy="815572"/>
            </a:xfrm>
            <a:prstGeom prst="rect">
              <a:avLst/>
            </a:prstGeom>
          </p:spPr>
        </p:pic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16EA12E7-4999-5003-07A2-1C981DDCF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19"/>
              <a:ext cx="2319946" cy="695228"/>
            </a:xfrm>
            <a:prstGeom prst="rect">
              <a:avLst/>
            </a:prstGeom>
          </p:spPr>
        </p:pic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32895A88-A5DD-CA31-EC82-98D39AE27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4727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696200" cy="525835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noProof="0" dirty="0"/>
              <a:t>System Components</a:t>
            </a:r>
          </a:p>
        </p:txBody>
      </p:sp>
      <p:sp>
        <p:nvSpPr>
          <p:cNvPr id="92" name="Google Shape;92;p3"/>
          <p:cNvSpPr txBox="1">
            <a:spLocks noGrp="1"/>
          </p:cNvSpPr>
          <p:nvPr>
            <p:ph type="body" idx="1"/>
          </p:nvPr>
        </p:nvSpPr>
        <p:spPr>
          <a:xfrm>
            <a:off x="1773778" y="2296552"/>
            <a:ext cx="2550242" cy="525835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/>
              <a:t>High-risk Work Environments</a:t>
            </a:r>
          </a:p>
          <a:p>
            <a:pPr lvl="0"/>
            <a:r>
              <a:rPr lang="en-US" noProof="0" dirty="0"/>
              <a:t>Coal </a:t>
            </a:r>
            <a:r>
              <a:rPr lang="en-US" dirty="0"/>
              <a:t>M</a:t>
            </a:r>
            <a:r>
              <a:rPr lang="en-US" noProof="0" dirty="0" err="1"/>
              <a:t>ines</a:t>
            </a:r>
            <a:r>
              <a:rPr lang="en-US" noProof="0" dirty="0"/>
              <a:t>,</a:t>
            </a:r>
            <a:r>
              <a:rPr lang="en-US" dirty="0"/>
              <a:t> Chemical Plants</a:t>
            </a:r>
            <a:endParaRPr lang="en-US" noProof="0" dirty="0"/>
          </a:p>
        </p:txBody>
      </p:sp>
      <p:sp>
        <p:nvSpPr>
          <p:cNvPr id="93" name="Google Shape;93;p3"/>
          <p:cNvSpPr txBox="1">
            <a:spLocks noGrp="1"/>
          </p:cNvSpPr>
          <p:nvPr>
            <p:ph type="body" idx="2"/>
          </p:nvPr>
        </p:nvSpPr>
        <p:spPr>
          <a:xfrm>
            <a:off x="1773778" y="1527393"/>
            <a:ext cx="2550242" cy="784963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dirty="0"/>
              <a:t>Applications Fields</a:t>
            </a:r>
          </a:p>
        </p:txBody>
      </p:sp>
      <p:sp>
        <p:nvSpPr>
          <p:cNvPr id="94" name="Google Shape;94;p3"/>
          <p:cNvSpPr txBox="1">
            <a:spLocks noGrp="1"/>
          </p:cNvSpPr>
          <p:nvPr>
            <p:ph type="body" idx="3"/>
          </p:nvPr>
        </p:nvSpPr>
        <p:spPr>
          <a:xfrm>
            <a:off x="853884" y="1711688"/>
            <a:ext cx="785424" cy="529822"/>
          </a:xfr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noProof="0" dirty="0"/>
              <a:t>01</a:t>
            </a:r>
          </a:p>
        </p:txBody>
      </p:sp>
      <p:sp>
        <p:nvSpPr>
          <p:cNvPr id="95" name="Google Shape;95;p3"/>
          <p:cNvSpPr txBox="1">
            <a:spLocks noGrp="1"/>
          </p:cNvSpPr>
          <p:nvPr>
            <p:ph type="body" idx="4"/>
          </p:nvPr>
        </p:nvSpPr>
        <p:spPr>
          <a:xfrm>
            <a:off x="5734151" y="2296552"/>
            <a:ext cx="2782052" cy="525835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/>
              <a:t>ESP32, </a:t>
            </a:r>
            <a:r>
              <a:rPr lang="ro-RO" dirty="0"/>
              <a:t>MAX30100</a:t>
            </a:r>
            <a:r>
              <a:rPr lang="en-US" dirty="0"/>
              <a:t>, </a:t>
            </a:r>
            <a:r>
              <a:rPr lang="ro-RO" dirty="0"/>
              <a:t>ZMOD4510</a:t>
            </a:r>
            <a:r>
              <a:rPr lang="en-US" dirty="0"/>
              <a:t>(VOC), </a:t>
            </a:r>
            <a:r>
              <a:rPr lang="ro-RO" dirty="0"/>
              <a:t>MPU-6050</a:t>
            </a:r>
            <a:endParaRPr lang="en-US" noProof="0" dirty="0"/>
          </a:p>
        </p:txBody>
      </p:sp>
      <p:sp>
        <p:nvSpPr>
          <p:cNvPr id="96" name="Google Shape;96;p3"/>
          <p:cNvSpPr txBox="1">
            <a:spLocks noGrp="1"/>
          </p:cNvSpPr>
          <p:nvPr>
            <p:ph type="body" idx="5"/>
          </p:nvPr>
        </p:nvSpPr>
        <p:spPr>
          <a:xfrm>
            <a:off x="5734153" y="1527394"/>
            <a:ext cx="2550242" cy="784963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dirty="0"/>
              <a:t>Motherboard and Sensors</a:t>
            </a:r>
            <a:endParaRPr lang="en-US" noProof="0"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6"/>
          </p:nvPr>
        </p:nvSpPr>
        <p:spPr>
          <a:xfrm>
            <a:off x="4834213" y="1712700"/>
            <a:ext cx="765470" cy="525835"/>
          </a:xfr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noProof="0" dirty="0"/>
              <a:t>02</a:t>
            </a:r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7"/>
          </p:nvPr>
        </p:nvSpPr>
        <p:spPr>
          <a:xfrm>
            <a:off x="5734151" y="3893717"/>
            <a:ext cx="2550242" cy="548243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Neurofuzzy</a:t>
            </a: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FallDetection</a:t>
            </a: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, HVR, 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DangerDetection</a:t>
            </a:r>
            <a:endParaRPr lang="en-US" noProof="0" dirty="0"/>
          </a:p>
        </p:txBody>
      </p:sp>
      <p:sp>
        <p:nvSpPr>
          <p:cNvPr id="99" name="Google Shape;99;p3"/>
          <p:cNvSpPr txBox="1">
            <a:spLocks noGrp="1"/>
          </p:cNvSpPr>
          <p:nvPr>
            <p:ph type="body" idx="8"/>
          </p:nvPr>
        </p:nvSpPr>
        <p:spPr>
          <a:xfrm>
            <a:off x="5734151" y="3164560"/>
            <a:ext cx="2550242" cy="781988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noProof="0" dirty="0"/>
              <a:t>Algorithms</a:t>
            </a:r>
          </a:p>
        </p:txBody>
      </p:sp>
      <p:sp>
        <p:nvSpPr>
          <p:cNvPr id="100" name="Google Shape;100;p3"/>
          <p:cNvSpPr txBox="1">
            <a:spLocks noGrp="1"/>
          </p:cNvSpPr>
          <p:nvPr>
            <p:ph type="body" idx="9"/>
          </p:nvPr>
        </p:nvSpPr>
        <p:spPr>
          <a:xfrm>
            <a:off x="4834211" y="3346890"/>
            <a:ext cx="765470" cy="525835"/>
          </a:xfr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noProof="0" dirty="0"/>
              <a:t>04</a:t>
            </a:r>
          </a:p>
        </p:txBody>
      </p:sp>
      <p:sp>
        <p:nvSpPr>
          <p:cNvPr id="101" name="Google Shape;101;p3"/>
          <p:cNvSpPr txBox="1">
            <a:spLocks noGrp="1"/>
          </p:cNvSpPr>
          <p:nvPr>
            <p:ph type="body" idx="13"/>
          </p:nvPr>
        </p:nvSpPr>
        <p:spPr>
          <a:xfrm>
            <a:off x="1773778" y="3893716"/>
            <a:ext cx="2550242" cy="548243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MQTT, </a:t>
            </a:r>
            <a:r>
              <a:rPr lang="en-US" dirty="0"/>
              <a:t>802.11 Wi-Fi</a:t>
            </a: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ThingsBoard</a:t>
            </a:r>
            <a:endParaRPr lang="en-US" noProof="0" dirty="0"/>
          </a:p>
        </p:txBody>
      </p:sp>
      <p:sp>
        <p:nvSpPr>
          <p:cNvPr id="102" name="Google Shape;102;p3"/>
          <p:cNvSpPr txBox="1">
            <a:spLocks noGrp="1"/>
          </p:cNvSpPr>
          <p:nvPr>
            <p:ph type="body" idx="14"/>
          </p:nvPr>
        </p:nvSpPr>
        <p:spPr>
          <a:xfrm>
            <a:off x="1773778" y="3164559"/>
            <a:ext cx="2550242" cy="781988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noProof="0" dirty="0"/>
              <a:t>Communication Technologies</a:t>
            </a:r>
            <a:endParaRPr lang="ro-RO" noProof="0" dirty="0"/>
          </a:p>
        </p:txBody>
      </p:sp>
      <p:sp>
        <p:nvSpPr>
          <p:cNvPr id="103" name="Google Shape;103;p3"/>
          <p:cNvSpPr txBox="1">
            <a:spLocks noGrp="1"/>
          </p:cNvSpPr>
          <p:nvPr>
            <p:ph type="body" idx="15"/>
          </p:nvPr>
        </p:nvSpPr>
        <p:spPr>
          <a:xfrm>
            <a:off x="853884" y="3349865"/>
            <a:ext cx="785424" cy="525835"/>
          </a:xfr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noProof="0" dirty="0"/>
              <a:t>03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5BD025F-935B-FB7E-200B-DC8217317F17}"/>
              </a:ext>
            </a:extLst>
          </p:cNvPr>
          <p:cNvGrpSpPr/>
          <p:nvPr/>
        </p:nvGrpSpPr>
        <p:grpSpPr>
          <a:xfrm rot="4456419" flipH="1">
            <a:off x="7868045" y="3858856"/>
            <a:ext cx="834234" cy="2470201"/>
            <a:chOff x="-95720" y="0"/>
            <a:chExt cx="834234" cy="2470201"/>
          </a:xfrm>
        </p:grpSpPr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E277019E-EA7A-35D2-BDFA-1ED139E2C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0" y="0"/>
              <a:ext cx="738514" cy="247020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96A65940-0440-0A20-2221-8F7C0DE9F4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0" y="1"/>
              <a:ext cx="448764" cy="1747400"/>
            </a:xfrm>
            <a:prstGeom prst="rect">
              <a:avLst/>
            </a:prstGeom>
          </p:spPr>
        </p:pic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A30A6124-97B3-52A3-53AB-052ABF317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-95720" y="0"/>
              <a:ext cx="392658" cy="128386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742319D-997B-4C03-310A-AC0971C82CF1}"/>
              </a:ext>
            </a:extLst>
          </p:cNvPr>
          <p:cNvGrpSpPr/>
          <p:nvPr/>
        </p:nvGrpSpPr>
        <p:grpSpPr>
          <a:xfrm rot="14719495" flipH="1">
            <a:off x="201522" y="-1105622"/>
            <a:ext cx="840529" cy="2470201"/>
            <a:chOff x="-95720" y="-2892"/>
            <a:chExt cx="840529" cy="2470201"/>
          </a:xfrm>
        </p:grpSpPr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E2BB0CA8-E002-A881-20A4-D4F009126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295" y="-2892"/>
              <a:ext cx="738514" cy="2470201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CDE7A2D2-9F63-91B7-7E3E-B2C4A48501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0" y="1"/>
              <a:ext cx="448764" cy="17474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9B0E7D1B-7696-F8B2-D79B-4421FFD3F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-95720" y="0"/>
              <a:ext cx="392658" cy="1283860"/>
            </a:xfrm>
            <a:prstGeom prst="rect">
              <a:avLst/>
            </a:prstGeom>
          </p:spPr>
        </p:pic>
      </p:grpSp>
      <p:sp>
        <p:nvSpPr>
          <p:cNvPr id="3" name="Google Shape;91;p3">
            <a:extLst>
              <a:ext uri="{FF2B5EF4-FFF2-40B4-BE49-F238E27FC236}">
                <a16:creationId xmlns:a16="http://schemas.microsoft.com/office/drawing/2014/main" id="{DBA8ABFD-43EF-3898-D13F-B615D5FF52C0}"/>
              </a:ext>
            </a:extLst>
          </p:cNvPr>
          <p:cNvSpPr txBox="1">
            <a:spLocks/>
          </p:cNvSpPr>
          <p:nvPr/>
        </p:nvSpPr>
        <p:spPr>
          <a:xfrm rot="5121924">
            <a:off x="6077056" y="563900"/>
            <a:ext cx="184244" cy="27527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3500" b="1" i="0" u="none" strike="noStrike" cap="none">
                <a:solidFill>
                  <a:schemeClr val="bg1"/>
                </a:solidFill>
                <a:latin typeface="Sora SemiBold" pitchFamily="2" charset="0"/>
                <a:ea typeface="Sora SemiBold" panose="020B0604020202020204" charset="0"/>
                <a:cs typeface="Sora SemiBold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696200" cy="568684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Communication Technologies</a:t>
            </a:r>
            <a:endParaRPr lang="ro-RO" dirty="0"/>
          </a:p>
        </p:txBody>
      </p:sp>
      <p:sp>
        <p:nvSpPr>
          <p:cNvPr id="23" name="Google Shape;261;p36">
            <a:extLst>
              <a:ext uri="{FF2B5EF4-FFF2-40B4-BE49-F238E27FC236}">
                <a16:creationId xmlns:a16="http://schemas.microsoft.com/office/drawing/2014/main" id="{770D6BCA-CC20-46FF-9076-0665E13F04ED}"/>
              </a:ext>
            </a:extLst>
          </p:cNvPr>
          <p:cNvSpPr/>
          <p:nvPr/>
        </p:nvSpPr>
        <p:spPr>
          <a:xfrm>
            <a:off x="3133650" y="1551175"/>
            <a:ext cx="2876700" cy="636300"/>
          </a:xfrm>
          <a:prstGeom prst="rect">
            <a:avLst/>
          </a:prstGeom>
          <a:solidFill>
            <a:schemeClr val="bg1"/>
          </a:solidFill>
          <a:ln w="952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5700" rIns="90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err="1">
                <a:solidFill>
                  <a:srgbClr val="FFFFFF"/>
                </a:solidFill>
                <a:latin typeface="Sora SemiBold" pitchFamily="2" charset="0"/>
                <a:ea typeface="Raleway"/>
                <a:cs typeface="Sora SemiBold" pitchFamily="2" charset="0"/>
                <a:sym typeface="Raleway"/>
              </a:rPr>
              <a:t>ThingsBoard</a:t>
            </a:r>
            <a:endParaRPr sz="1200" b="1" dirty="0">
              <a:latin typeface="Sora SemiBold" pitchFamily="2" charset="0"/>
              <a:ea typeface="Raleway"/>
              <a:cs typeface="Sora SemiBold" pitchFamily="2" charset="0"/>
              <a:sym typeface="Raleway"/>
            </a:endParaRPr>
          </a:p>
        </p:txBody>
      </p:sp>
      <p:sp>
        <p:nvSpPr>
          <p:cNvPr id="24" name="Google Shape;262;p36">
            <a:extLst>
              <a:ext uri="{FF2B5EF4-FFF2-40B4-BE49-F238E27FC236}">
                <a16:creationId xmlns:a16="http://schemas.microsoft.com/office/drawing/2014/main" id="{2CE67BA8-3003-6913-6D81-1E0586A6B8AE}"/>
              </a:ext>
            </a:extLst>
          </p:cNvPr>
          <p:cNvSpPr/>
          <p:nvPr/>
        </p:nvSpPr>
        <p:spPr>
          <a:xfrm>
            <a:off x="946025" y="3587675"/>
            <a:ext cx="2188200" cy="468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lvl="0"/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Scalable indefinitely through NAT.</a:t>
            </a:r>
            <a:endParaRPr sz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Open Sans"/>
            </a:endParaRPr>
          </a:p>
        </p:txBody>
      </p:sp>
      <p:sp>
        <p:nvSpPr>
          <p:cNvPr id="25" name="Google Shape;263;p36">
            <a:extLst>
              <a:ext uri="{FF2B5EF4-FFF2-40B4-BE49-F238E27FC236}">
                <a16:creationId xmlns:a16="http://schemas.microsoft.com/office/drawing/2014/main" id="{A347EC1C-1C56-40F5-5E23-FF040C1599BE}"/>
              </a:ext>
            </a:extLst>
          </p:cNvPr>
          <p:cNvSpPr/>
          <p:nvPr/>
        </p:nvSpPr>
        <p:spPr>
          <a:xfrm>
            <a:off x="946133" y="3040150"/>
            <a:ext cx="2188200" cy="468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lvl="0"/>
            <a:r>
              <a:rPr lang="en-US" sz="1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Posibility</a:t>
            </a: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to monitor each worker’s health</a:t>
            </a:r>
            <a:endParaRPr sz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Open Sans"/>
            </a:endParaRPr>
          </a:p>
        </p:txBody>
      </p:sp>
      <p:sp>
        <p:nvSpPr>
          <p:cNvPr id="26" name="Google Shape;264;p36">
            <a:extLst>
              <a:ext uri="{FF2B5EF4-FFF2-40B4-BE49-F238E27FC236}">
                <a16:creationId xmlns:a16="http://schemas.microsoft.com/office/drawing/2014/main" id="{D80F18F6-99AF-5E6D-D810-60152ECD659C}"/>
              </a:ext>
            </a:extLst>
          </p:cNvPr>
          <p:cNvSpPr/>
          <p:nvPr/>
        </p:nvSpPr>
        <p:spPr>
          <a:xfrm>
            <a:off x="946025" y="4145632"/>
            <a:ext cx="2188200" cy="468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r>
              <a:rPr lang="en-US" sz="1200" dirty="0" err="1">
                <a:solidFill>
                  <a:schemeClr val="tx1"/>
                </a:solidFill>
                <a:latin typeface="Lato" panose="020F0502020204030203" pitchFamily="34" charset="0"/>
                <a:ea typeface="Open Sans"/>
                <a:cs typeface="Open Sans"/>
                <a:sym typeface="Open Sans"/>
              </a:rPr>
              <a:t>ThingsBoard</a:t>
            </a:r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Open Sans"/>
                <a:cs typeface="Open Sans"/>
                <a:sym typeface="Open Sans"/>
              </a:rPr>
              <a:t> Dashboard</a:t>
            </a:r>
          </a:p>
          <a:p>
            <a:pPr lvl="0"/>
            <a:endParaRPr sz="1200" dirty="0">
              <a:solidFill>
                <a:schemeClr val="tx1"/>
              </a:solidFill>
              <a:latin typeface="Lato" panose="020F050202020403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65;p36">
            <a:extLst>
              <a:ext uri="{FF2B5EF4-FFF2-40B4-BE49-F238E27FC236}">
                <a16:creationId xmlns:a16="http://schemas.microsoft.com/office/drawing/2014/main" id="{7759C931-7BE8-CBB8-B922-F4DA60523A94}"/>
              </a:ext>
            </a:extLst>
          </p:cNvPr>
          <p:cNvSpPr/>
          <p:nvPr/>
        </p:nvSpPr>
        <p:spPr>
          <a:xfrm>
            <a:off x="3590850" y="3040150"/>
            <a:ext cx="2188200" cy="468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Open Sans"/>
                <a:cs typeface="Open Sans"/>
                <a:sym typeface="Open Sans"/>
              </a:rPr>
              <a:t>Validation of Algorithms</a:t>
            </a:r>
            <a:endParaRPr sz="1200" dirty="0">
              <a:solidFill>
                <a:schemeClr val="tx1"/>
              </a:solidFill>
              <a:latin typeface="Lato" panose="020F050202020403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28" name="Google Shape;266;p36">
            <a:extLst>
              <a:ext uri="{FF2B5EF4-FFF2-40B4-BE49-F238E27FC236}">
                <a16:creationId xmlns:a16="http://schemas.microsoft.com/office/drawing/2014/main" id="{38D4E06A-83C2-7143-4713-BA281AC73D3C}"/>
              </a:ext>
            </a:extLst>
          </p:cNvPr>
          <p:cNvSpPr/>
          <p:nvPr/>
        </p:nvSpPr>
        <p:spPr>
          <a:xfrm>
            <a:off x="3590850" y="3587674"/>
            <a:ext cx="2188200" cy="468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Open Sans"/>
                <a:cs typeface="Open Sans"/>
                <a:sym typeface="Open Sans"/>
              </a:rPr>
              <a:t>Instant alert on Smartphone/PC</a:t>
            </a:r>
            <a:endParaRPr sz="1200" dirty="0">
              <a:solidFill>
                <a:schemeClr val="tx1"/>
              </a:solidFill>
              <a:latin typeface="Lato" panose="020F050202020403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29" name="Google Shape;267;p36">
            <a:extLst>
              <a:ext uri="{FF2B5EF4-FFF2-40B4-BE49-F238E27FC236}">
                <a16:creationId xmlns:a16="http://schemas.microsoft.com/office/drawing/2014/main" id="{94145773-7DBB-A5BF-4762-3F03CF123DD6}"/>
              </a:ext>
            </a:extLst>
          </p:cNvPr>
          <p:cNvSpPr/>
          <p:nvPr/>
        </p:nvSpPr>
        <p:spPr>
          <a:xfrm>
            <a:off x="3590850" y="4135200"/>
            <a:ext cx="2188200" cy="468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Open Sans"/>
                <a:cs typeface="Open Sans"/>
                <a:sym typeface="Open Sans"/>
              </a:rPr>
              <a:t>Automatic Emergency Call</a:t>
            </a:r>
            <a:endParaRPr sz="1200" dirty="0">
              <a:solidFill>
                <a:schemeClr val="tx1"/>
              </a:solidFill>
              <a:latin typeface="Lato" panose="020F050202020403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30" name="Google Shape;268;p36">
            <a:extLst>
              <a:ext uri="{FF2B5EF4-FFF2-40B4-BE49-F238E27FC236}">
                <a16:creationId xmlns:a16="http://schemas.microsoft.com/office/drawing/2014/main" id="{C5691AE8-FBE9-0193-0943-C353319E5B2C}"/>
              </a:ext>
            </a:extLst>
          </p:cNvPr>
          <p:cNvSpPr/>
          <p:nvPr/>
        </p:nvSpPr>
        <p:spPr>
          <a:xfrm>
            <a:off x="6185068" y="3040150"/>
            <a:ext cx="2238900" cy="468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Open Sans"/>
                <a:cs typeface="Open Sans"/>
                <a:sym typeface="Open Sans"/>
              </a:rPr>
              <a:t>Fast and accurate localization</a:t>
            </a:r>
            <a:endParaRPr lang="ro-RO" sz="1200" dirty="0">
              <a:solidFill>
                <a:schemeClr val="tx1"/>
              </a:solidFill>
              <a:latin typeface="Lato" panose="020F050202020403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31" name="Google Shape;269;p36">
            <a:extLst>
              <a:ext uri="{FF2B5EF4-FFF2-40B4-BE49-F238E27FC236}">
                <a16:creationId xmlns:a16="http://schemas.microsoft.com/office/drawing/2014/main" id="{09AAA840-40D9-ED7A-3D07-3F10A4080D04}"/>
              </a:ext>
            </a:extLst>
          </p:cNvPr>
          <p:cNvSpPr/>
          <p:nvPr/>
        </p:nvSpPr>
        <p:spPr>
          <a:xfrm>
            <a:off x="6185062" y="3587675"/>
            <a:ext cx="2238900" cy="468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lvl="0"/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Awareness of the health problem prior to arrival</a:t>
            </a:r>
            <a:endParaRPr sz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Open Sans"/>
            </a:endParaRPr>
          </a:p>
        </p:txBody>
      </p:sp>
      <p:sp>
        <p:nvSpPr>
          <p:cNvPr id="32" name="Google Shape;270;p36">
            <a:extLst>
              <a:ext uri="{FF2B5EF4-FFF2-40B4-BE49-F238E27FC236}">
                <a16:creationId xmlns:a16="http://schemas.microsoft.com/office/drawing/2014/main" id="{C6232C5E-DFE5-F9C4-2318-5BB4863872EE}"/>
              </a:ext>
            </a:extLst>
          </p:cNvPr>
          <p:cNvSpPr/>
          <p:nvPr/>
        </p:nvSpPr>
        <p:spPr>
          <a:xfrm>
            <a:off x="720000" y="2414025"/>
            <a:ext cx="2414100" cy="546900"/>
          </a:xfrm>
          <a:prstGeom prst="rect">
            <a:avLst/>
          </a:prstGeom>
          <a:solidFill>
            <a:schemeClr val="tx2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bg2"/>
                </a:solidFill>
                <a:latin typeface="Sora SemiBold" pitchFamily="2" charset="0"/>
                <a:ea typeface="Raleway"/>
                <a:cs typeface="Sora SemiBold" pitchFamily="2" charset="0"/>
                <a:sym typeface="Raleway"/>
              </a:rPr>
              <a:t>Real-Time Visibility</a:t>
            </a:r>
            <a:endParaRPr sz="1200" b="1" dirty="0">
              <a:solidFill>
                <a:schemeClr val="bg2"/>
              </a:solidFill>
              <a:latin typeface="Sora SemiBold" pitchFamily="2" charset="0"/>
              <a:ea typeface="Raleway"/>
              <a:cs typeface="Sora SemiBold" pitchFamily="2" charset="0"/>
              <a:sym typeface="Raleway"/>
            </a:endParaRPr>
          </a:p>
        </p:txBody>
      </p:sp>
      <p:sp>
        <p:nvSpPr>
          <p:cNvPr id="33" name="Google Shape;271;p36">
            <a:extLst>
              <a:ext uri="{FF2B5EF4-FFF2-40B4-BE49-F238E27FC236}">
                <a16:creationId xmlns:a16="http://schemas.microsoft.com/office/drawing/2014/main" id="{90002206-E2E2-1D7B-1F6B-67EA719D3570}"/>
              </a:ext>
            </a:extLst>
          </p:cNvPr>
          <p:cNvSpPr/>
          <p:nvPr/>
        </p:nvSpPr>
        <p:spPr>
          <a:xfrm>
            <a:off x="3364950" y="2414025"/>
            <a:ext cx="2414100" cy="546900"/>
          </a:xfrm>
          <a:prstGeom prst="rect">
            <a:avLst/>
          </a:prstGeom>
          <a:solidFill>
            <a:schemeClr val="tx2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bg2"/>
                </a:solidFill>
                <a:latin typeface="Sora SemiBold" pitchFamily="2" charset="0"/>
                <a:ea typeface="Raleway"/>
                <a:cs typeface="Sora SemiBold" pitchFamily="2" charset="0"/>
                <a:sym typeface="Raleway"/>
              </a:rPr>
              <a:t>Incident Reporting</a:t>
            </a:r>
            <a:endParaRPr sz="1200" b="1" dirty="0">
              <a:solidFill>
                <a:schemeClr val="bg2"/>
              </a:solidFill>
              <a:latin typeface="Sora SemiBold" pitchFamily="2" charset="0"/>
              <a:ea typeface="Raleway"/>
              <a:cs typeface="Sora SemiBold" pitchFamily="2" charset="0"/>
              <a:sym typeface="Raleway"/>
            </a:endParaRPr>
          </a:p>
        </p:txBody>
      </p:sp>
      <p:sp>
        <p:nvSpPr>
          <p:cNvPr id="34" name="Google Shape;272;p36">
            <a:extLst>
              <a:ext uri="{FF2B5EF4-FFF2-40B4-BE49-F238E27FC236}">
                <a16:creationId xmlns:a16="http://schemas.microsoft.com/office/drawing/2014/main" id="{3C7FA9A2-D92C-2426-1044-29FCED50A59D}"/>
              </a:ext>
            </a:extLst>
          </p:cNvPr>
          <p:cNvSpPr/>
          <p:nvPr/>
        </p:nvSpPr>
        <p:spPr>
          <a:xfrm>
            <a:off x="6009949" y="2414025"/>
            <a:ext cx="2414100" cy="546900"/>
          </a:xfrm>
          <a:prstGeom prst="rect">
            <a:avLst/>
          </a:prstGeom>
          <a:solidFill>
            <a:schemeClr val="tx2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bg2"/>
                </a:solidFill>
                <a:latin typeface="Sora SemiBold" pitchFamily="2" charset="0"/>
                <a:ea typeface="Raleway"/>
                <a:cs typeface="Sora SemiBold" pitchFamily="2" charset="0"/>
                <a:sym typeface="Raleway"/>
              </a:rPr>
              <a:t>Emergency Response</a:t>
            </a:r>
            <a:endParaRPr sz="1200" b="1" dirty="0">
              <a:solidFill>
                <a:schemeClr val="bg2"/>
              </a:solidFill>
              <a:latin typeface="Sora SemiBold" pitchFamily="2" charset="0"/>
              <a:ea typeface="Raleway"/>
              <a:cs typeface="Sora SemiBold" pitchFamily="2" charset="0"/>
              <a:sym typeface="Raleway"/>
            </a:endParaRPr>
          </a:p>
        </p:txBody>
      </p:sp>
      <p:sp>
        <p:nvSpPr>
          <p:cNvPr id="35" name="Google Shape;273;p36">
            <a:extLst>
              <a:ext uri="{FF2B5EF4-FFF2-40B4-BE49-F238E27FC236}">
                <a16:creationId xmlns:a16="http://schemas.microsoft.com/office/drawing/2014/main" id="{970FA7DC-DF55-3152-5D46-33008403435F}"/>
              </a:ext>
            </a:extLst>
          </p:cNvPr>
          <p:cNvSpPr/>
          <p:nvPr/>
        </p:nvSpPr>
        <p:spPr>
          <a:xfrm>
            <a:off x="6185062" y="4122750"/>
            <a:ext cx="2238900" cy="468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lvl="0">
              <a:buClr>
                <a:schemeClr val="dk1"/>
              </a:buClr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Knowledge of the victim's environment.</a:t>
            </a:r>
            <a:endParaRPr lang="ro-RO" sz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Open Sans"/>
            </a:endParaRPr>
          </a:p>
        </p:txBody>
      </p:sp>
      <p:sp>
        <p:nvSpPr>
          <p:cNvPr id="36" name="Google Shape;274;p36">
            <a:extLst>
              <a:ext uri="{FF2B5EF4-FFF2-40B4-BE49-F238E27FC236}">
                <a16:creationId xmlns:a16="http://schemas.microsoft.com/office/drawing/2014/main" id="{321B7911-BA46-78B9-03FF-6DC4510CCCE1}"/>
              </a:ext>
            </a:extLst>
          </p:cNvPr>
          <p:cNvSpPr txBox="1"/>
          <p:nvPr/>
        </p:nvSpPr>
        <p:spPr>
          <a:xfrm>
            <a:off x="1587150" y="1186303"/>
            <a:ext cx="5969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Sora SemiBold" pitchFamily="2" charset="0"/>
                <a:ea typeface="Raleway"/>
                <a:cs typeface="Sora SemiBold" pitchFamily="2" charset="0"/>
                <a:sym typeface="Raleway"/>
              </a:rPr>
              <a:t>IoT Server Management</a:t>
            </a:r>
            <a:endParaRPr sz="1200" dirty="0">
              <a:solidFill>
                <a:schemeClr val="dk1"/>
              </a:solidFill>
              <a:latin typeface="Sora SemiBold" pitchFamily="2" charset="0"/>
              <a:ea typeface="Raleway"/>
              <a:cs typeface="Sora SemiBold" pitchFamily="2" charset="0"/>
              <a:sym typeface="Raleway"/>
            </a:endParaRPr>
          </a:p>
        </p:txBody>
      </p:sp>
      <p:cxnSp>
        <p:nvCxnSpPr>
          <p:cNvPr id="37" name="Google Shape;275;p36">
            <a:extLst>
              <a:ext uri="{FF2B5EF4-FFF2-40B4-BE49-F238E27FC236}">
                <a16:creationId xmlns:a16="http://schemas.microsoft.com/office/drawing/2014/main" id="{146DA659-AE0D-8354-38DA-C89D206AF619}"/>
              </a:ext>
            </a:extLst>
          </p:cNvPr>
          <p:cNvCxnSpPr>
            <a:stCxn id="23" idx="1"/>
            <a:endCxn id="32" idx="0"/>
          </p:cNvCxnSpPr>
          <p:nvPr/>
        </p:nvCxnSpPr>
        <p:spPr>
          <a:xfrm flipH="1">
            <a:off x="1927050" y="1869325"/>
            <a:ext cx="1206600" cy="544800"/>
          </a:xfrm>
          <a:prstGeom prst="bentConnector2">
            <a:avLst/>
          </a:prstGeom>
          <a:noFill/>
          <a:ln w="127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276;p36">
            <a:extLst>
              <a:ext uri="{FF2B5EF4-FFF2-40B4-BE49-F238E27FC236}">
                <a16:creationId xmlns:a16="http://schemas.microsoft.com/office/drawing/2014/main" id="{BDABBCC2-83B3-A750-D4C3-68709C46EA27}"/>
              </a:ext>
            </a:extLst>
          </p:cNvPr>
          <p:cNvCxnSpPr>
            <a:stCxn id="23" idx="3"/>
            <a:endCxn id="34" idx="0"/>
          </p:cNvCxnSpPr>
          <p:nvPr/>
        </p:nvCxnSpPr>
        <p:spPr>
          <a:xfrm>
            <a:off x="6010350" y="1869325"/>
            <a:ext cx="1206600" cy="544800"/>
          </a:xfrm>
          <a:prstGeom prst="bentConnector2">
            <a:avLst/>
          </a:prstGeom>
          <a:noFill/>
          <a:ln w="127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" name="Google Shape;277;p36">
            <a:extLst>
              <a:ext uri="{FF2B5EF4-FFF2-40B4-BE49-F238E27FC236}">
                <a16:creationId xmlns:a16="http://schemas.microsoft.com/office/drawing/2014/main" id="{B4120DF6-91A8-EB51-ACA9-8C86C505FEB7}"/>
              </a:ext>
            </a:extLst>
          </p:cNvPr>
          <p:cNvCxnSpPr>
            <a:stCxn id="23" idx="2"/>
            <a:endCxn id="33" idx="0"/>
          </p:cNvCxnSpPr>
          <p:nvPr/>
        </p:nvCxnSpPr>
        <p:spPr>
          <a:xfrm>
            <a:off x="4572000" y="2187475"/>
            <a:ext cx="0" cy="226500"/>
          </a:xfrm>
          <a:prstGeom prst="straightConnector1">
            <a:avLst/>
          </a:prstGeom>
          <a:noFill/>
          <a:ln w="127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Google Shape;278;p36">
            <a:extLst>
              <a:ext uri="{FF2B5EF4-FFF2-40B4-BE49-F238E27FC236}">
                <a16:creationId xmlns:a16="http://schemas.microsoft.com/office/drawing/2014/main" id="{D9F373E9-6EDD-8315-F57B-B3403A32BC48}"/>
              </a:ext>
            </a:extLst>
          </p:cNvPr>
          <p:cNvSpPr/>
          <p:nvPr/>
        </p:nvSpPr>
        <p:spPr>
          <a:xfrm>
            <a:off x="720000" y="3040150"/>
            <a:ext cx="119400" cy="1563300"/>
          </a:xfrm>
          <a:prstGeom prst="leftBracket">
            <a:avLst>
              <a:gd name="adj" fmla="val 0"/>
            </a:avLst>
          </a:prstGeom>
          <a:noFill/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79;p36">
            <a:extLst>
              <a:ext uri="{FF2B5EF4-FFF2-40B4-BE49-F238E27FC236}">
                <a16:creationId xmlns:a16="http://schemas.microsoft.com/office/drawing/2014/main" id="{ADEC259D-7586-708C-D66E-EF7CC60F7E69}"/>
              </a:ext>
            </a:extLst>
          </p:cNvPr>
          <p:cNvSpPr/>
          <p:nvPr/>
        </p:nvSpPr>
        <p:spPr>
          <a:xfrm>
            <a:off x="3364950" y="3040150"/>
            <a:ext cx="119400" cy="1563300"/>
          </a:xfrm>
          <a:prstGeom prst="leftBracket">
            <a:avLst>
              <a:gd name="adj" fmla="val 0"/>
            </a:avLst>
          </a:prstGeom>
          <a:noFill/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80;p36">
            <a:extLst>
              <a:ext uri="{FF2B5EF4-FFF2-40B4-BE49-F238E27FC236}">
                <a16:creationId xmlns:a16="http://schemas.microsoft.com/office/drawing/2014/main" id="{F95ACD2E-A612-00A1-C83F-F8D41D56EB64}"/>
              </a:ext>
            </a:extLst>
          </p:cNvPr>
          <p:cNvSpPr/>
          <p:nvPr/>
        </p:nvSpPr>
        <p:spPr>
          <a:xfrm>
            <a:off x="6010350" y="3040150"/>
            <a:ext cx="119400" cy="1563300"/>
          </a:xfrm>
          <a:prstGeom prst="leftBracket">
            <a:avLst>
              <a:gd name="adj" fmla="val 0"/>
            </a:avLst>
          </a:prstGeom>
          <a:noFill/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DB82BD4-16D5-2FAA-F8D9-EA246EE2F936}"/>
              </a:ext>
            </a:extLst>
          </p:cNvPr>
          <p:cNvGrpSpPr/>
          <p:nvPr/>
        </p:nvGrpSpPr>
        <p:grpSpPr>
          <a:xfrm rot="1699773" flipH="1">
            <a:off x="-741075" y="4567394"/>
            <a:ext cx="2306313" cy="636435"/>
            <a:chOff x="6834863" y="4316954"/>
            <a:chExt cx="3224070" cy="889693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E07F6654-FC45-A4A5-B2D5-E77BA0F09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4863" y="4316954"/>
              <a:ext cx="2724238" cy="815572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14BBDF7E-D227-25E6-6395-AB571E563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20"/>
              <a:ext cx="2319946" cy="695228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A6C26E04-9BB8-A53E-DB2D-85CA4973A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49CE20-24C5-8E2F-3E02-05E6F0029CF0}"/>
              </a:ext>
            </a:extLst>
          </p:cNvPr>
          <p:cNvGrpSpPr/>
          <p:nvPr/>
        </p:nvGrpSpPr>
        <p:grpSpPr>
          <a:xfrm rot="12559415" flipH="1">
            <a:off x="7313221" y="75172"/>
            <a:ext cx="2538685" cy="699808"/>
            <a:chOff x="6834571" y="4317827"/>
            <a:chExt cx="3224362" cy="888820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1BB4AB5D-9C39-9D38-4D2B-8A59BF086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4571" y="4317827"/>
              <a:ext cx="2724237" cy="815571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8877A20D-86B2-224B-FA7A-FB6DDAD27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20"/>
              <a:ext cx="2319946" cy="695228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D3111D4-E871-1A88-8339-A8CB036F8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2B750112-8762-875D-CC4A-A1C77DF25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>
            <a:extLst>
              <a:ext uri="{FF2B5EF4-FFF2-40B4-BE49-F238E27FC236}">
                <a16:creationId xmlns:a16="http://schemas.microsoft.com/office/drawing/2014/main" id="{00CC62FC-D516-E200-B413-4DD7171825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696200" cy="568684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/>
              <a:t>System Utility</a:t>
            </a:r>
            <a:endParaRPr lang="en-US" noProof="0" dirty="0"/>
          </a:p>
        </p:txBody>
      </p:sp>
      <p:sp>
        <p:nvSpPr>
          <p:cNvPr id="23" name="Google Shape;261;p36">
            <a:extLst>
              <a:ext uri="{FF2B5EF4-FFF2-40B4-BE49-F238E27FC236}">
                <a16:creationId xmlns:a16="http://schemas.microsoft.com/office/drawing/2014/main" id="{0030751C-F5D1-7AA6-2382-73FCA27A4A6B}"/>
              </a:ext>
            </a:extLst>
          </p:cNvPr>
          <p:cNvSpPr/>
          <p:nvPr/>
        </p:nvSpPr>
        <p:spPr>
          <a:xfrm>
            <a:off x="3133650" y="1551175"/>
            <a:ext cx="2876700" cy="636300"/>
          </a:xfrm>
          <a:prstGeom prst="rect">
            <a:avLst/>
          </a:prstGeom>
          <a:solidFill>
            <a:schemeClr val="bg1"/>
          </a:solidFill>
          <a:ln w="952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5700" rIns="90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ora SemiBold" pitchFamily="2" charset="0"/>
                <a:ea typeface="Raleway"/>
                <a:cs typeface="Sora SemiBold" pitchFamily="2" charset="0"/>
                <a:sym typeface="Raleway"/>
              </a:rPr>
              <a:t>ESP32-C6</a:t>
            </a:r>
            <a:endParaRPr sz="1200" b="1" dirty="0">
              <a:latin typeface="Sora SemiBold" pitchFamily="2" charset="0"/>
              <a:ea typeface="Raleway"/>
              <a:cs typeface="Sora SemiBold" pitchFamily="2" charset="0"/>
              <a:sym typeface="Raleway"/>
            </a:endParaRPr>
          </a:p>
        </p:txBody>
      </p:sp>
      <p:sp>
        <p:nvSpPr>
          <p:cNvPr id="24" name="Google Shape;262;p36">
            <a:extLst>
              <a:ext uri="{FF2B5EF4-FFF2-40B4-BE49-F238E27FC236}">
                <a16:creationId xmlns:a16="http://schemas.microsoft.com/office/drawing/2014/main" id="{F858C87D-01E3-6E74-67A6-BFD269C6ACD5}"/>
              </a:ext>
            </a:extLst>
          </p:cNvPr>
          <p:cNvSpPr/>
          <p:nvPr/>
        </p:nvSpPr>
        <p:spPr>
          <a:xfrm>
            <a:off x="946025" y="3587675"/>
            <a:ext cx="2188200" cy="468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lvl="0"/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Open Sans"/>
                <a:cs typeface="Open Sans"/>
                <a:sym typeface="Open Sans"/>
              </a:rPr>
              <a:t>VOCs Sensor Type</a:t>
            </a:r>
            <a:endParaRPr sz="1200" dirty="0">
              <a:solidFill>
                <a:schemeClr val="tx1"/>
              </a:solidFill>
              <a:latin typeface="Lato" panose="020F050202020403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25" name="Google Shape;263;p36">
            <a:extLst>
              <a:ext uri="{FF2B5EF4-FFF2-40B4-BE49-F238E27FC236}">
                <a16:creationId xmlns:a16="http://schemas.microsoft.com/office/drawing/2014/main" id="{3AF89E79-8E1F-E363-DF02-F5194F5BDE05}"/>
              </a:ext>
            </a:extLst>
          </p:cNvPr>
          <p:cNvSpPr/>
          <p:nvPr/>
        </p:nvSpPr>
        <p:spPr>
          <a:xfrm>
            <a:off x="946133" y="3040150"/>
            <a:ext cx="2188200" cy="468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Open Sans"/>
                <a:cs typeface="Open Sans"/>
                <a:sym typeface="Open Sans"/>
              </a:rPr>
              <a:t>Dedicated to Air Quality</a:t>
            </a:r>
            <a:endParaRPr sz="1200" dirty="0">
              <a:solidFill>
                <a:schemeClr val="tx1"/>
              </a:solidFill>
              <a:latin typeface="Lato" panose="020F050202020403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26" name="Google Shape;264;p36">
            <a:extLst>
              <a:ext uri="{FF2B5EF4-FFF2-40B4-BE49-F238E27FC236}">
                <a16:creationId xmlns:a16="http://schemas.microsoft.com/office/drawing/2014/main" id="{444133FD-F398-0BB1-BBA2-2608F99BBEE6}"/>
              </a:ext>
            </a:extLst>
          </p:cNvPr>
          <p:cNvSpPr/>
          <p:nvPr/>
        </p:nvSpPr>
        <p:spPr>
          <a:xfrm>
            <a:off x="946123" y="4135200"/>
            <a:ext cx="2188200" cy="468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lvl="0"/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Open Sans"/>
                <a:cs typeface="Open Sans"/>
                <a:sym typeface="Open Sans"/>
              </a:rPr>
              <a:t>Dangerous Space Detection</a:t>
            </a:r>
            <a:endParaRPr sz="1200" dirty="0">
              <a:solidFill>
                <a:schemeClr val="tx1"/>
              </a:solidFill>
              <a:latin typeface="Lato" panose="020F050202020403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65;p36">
            <a:extLst>
              <a:ext uri="{FF2B5EF4-FFF2-40B4-BE49-F238E27FC236}">
                <a16:creationId xmlns:a16="http://schemas.microsoft.com/office/drawing/2014/main" id="{83A8F09C-4009-3510-73DD-79A389460D36}"/>
              </a:ext>
            </a:extLst>
          </p:cNvPr>
          <p:cNvSpPr/>
          <p:nvPr/>
        </p:nvSpPr>
        <p:spPr>
          <a:xfrm>
            <a:off x="3590850" y="3040150"/>
            <a:ext cx="2188200" cy="468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Open Sans"/>
                <a:cs typeface="Open Sans"/>
                <a:sym typeface="Open Sans"/>
              </a:rPr>
              <a:t>Pulse Oximeter Sensor</a:t>
            </a:r>
            <a:endParaRPr sz="1200" dirty="0">
              <a:solidFill>
                <a:schemeClr val="tx1"/>
              </a:solidFill>
              <a:latin typeface="Lato" panose="020F050202020403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28" name="Google Shape;266;p36">
            <a:extLst>
              <a:ext uri="{FF2B5EF4-FFF2-40B4-BE49-F238E27FC236}">
                <a16:creationId xmlns:a16="http://schemas.microsoft.com/office/drawing/2014/main" id="{CE141672-8D9E-9D91-D11E-8723CFF19A09}"/>
              </a:ext>
            </a:extLst>
          </p:cNvPr>
          <p:cNvSpPr/>
          <p:nvPr/>
        </p:nvSpPr>
        <p:spPr>
          <a:xfrm>
            <a:off x="3590850" y="3587674"/>
            <a:ext cx="2188200" cy="468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Open Sans"/>
                <a:cs typeface="Open Sans"/>
                <a:sym typeface="Open Sans"/>
              </a:rPr>
              <a:t>HVR and Stress Detection</a:t>
            </a:r>
            <a:endParaRPr sz="1200" dirty="0">
              <a:solidFill>
                <a:schemeClr val="tx1"/>
              </a:solidFill>
              <a:latin typeface="Lato" panose="020F050202020403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29" name="Google Shape;267;p36">
            <a:extLst>
              <a:ext uri="{FF2B5EF4-FFF2-40B4-BE49-F238E27FC236}">
                <a16:creationId xmlns:a16="http://schemas.microsoft.com/office/drawing/2014/main" id="{7C637FD5-6592-A9F9-B4EB-CDD09C395981}"/>
              </a:ext>
            </a:extLst>
          </p:cNvPr>
          <p:cNvSpPr/>
          <p:nvPr/>
        </p:nvSpPr>
        <p:spPr>
          <a:xfrm>
            <a:off x="3590850" y="4135200"/>
            <a:ext cx="2188200" cy="468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lvl="0"/>
            <a:r>
              <a:rPr lang="en-US" sz="1200" dirty="0"/>
              <a:t>SpO2, Pulse </a:t>
            </a:r>
            <a:r>
              <a:rPr lang="en-US" sz="1200"/>
              <a:t>and Respiratory </a:t>
            </a:r>
            <a:r>
              <a:rPr lang="en-US" sz="1200" dirty="0"/>
              <a:t>Monitoring</a:t>
            </a:r>
            <a:endParaRPr sz="1200" dirty="0">
              <a:solidFill>
                <a:schemeClr val="tx1"/>
              </a:solidFill>
              <a:latin typeface="Lato" panose="020F050202020403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30" name="Google Shape;268;p36">
            <a:extLst>
              <a:ext uri="{FF2B5EF4-FFF2-40B4-BE49-F238E27FC236}">
                <a16:creationId xmlns:a16="http://schemas.microsoft.com/office/drawing/2014/main" id="{EF2F4400-B867-6D1C-2704-4B5065C86208}"/>
              </a:ext>
            </a:extLst>
          </p:cNvPr>
          <p:cNvSpPr/>
          <p:nvPr/>
        </p:nvSpPr>
        <p:spPr>
          <a:xfrm>
            <a:off x="6185068" y="3040150"/>
            <a:ext cx="2238900" cy="468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Open Sans"/>
                <a:cs typeface="Open Sans"/>
                <a:sym typeface="Open Sans"/>
              </a:rPr>
              <a:t>Gyroscopic and Acceleration</a:t>
            </a:r>
            <a:endParaRPr lang="ro-RO" sz="1200" dirty="0">
              <a:solidFill>
                <a:schemeClr val="tx1"/>
              </a:solidFill>
              <a:latin typeface="Lato" panose="020F050202020403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31" name="Google Shape;269;p36">
            <a:extLst>
              <a:ext uri="{FF2B5EF4-FFF2-40B4-BE49-F238E27FC236}">
                <a16:creationId xmlns:a16="http://schemas.microsoft.com/office/drawing/2014/main" id="{84D2733E-1E67-FB83-17DA-6AF3EE9BE7A2}"/>
              </a:ext>
            </a:extLst>
          </p:cNvPr>
          <p:cNvSpPr/>
          <p:nvPr/>
        </p:nvSpPr>
        <p:spPr>
          <a:xfrm>
            <a:off x="6185062" y="3587675"/>
            <a:ext cx="2238900" cy="468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Open Sans"/>
                <a:cs typeface="Open Sans"/>
                <a:sym typeface="Open Sans"/>
              </a:rPr>
              <a:t>Fall Detection, Dangerous Space Detection</a:t>
            </a:r>
            <a:endParaRPr sz="1200" dirty="0">
              <a:solidFill>
                <a:schemeClr val="tx1"/>
              </a:solidFill>
              <a:latin typeface="Lato" panose="020F050202020403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32" name="Google Shape;270;p36">
            <a:extLst>
              <a:ext uri="{FF2B5EF4-FFF2-40B4-BE49-F238E27FC236}">
                <a16:creationId xmlns:a16="http://schemas.microsoft.com/office/drawing/2014/main" id="{2ED7B11E-3610-CF02-4CF6-B80B0C019487}"/>
              </a:ext>
            </a:extLst>
          </p:cNvPr>
          <p:cNvSpPr/>
          <p:nvPr/>
        </p:nvSpPr>
        <p:spPr>
          <a:xfrm>
            <a:off x="720000" y="2414025"/>
            <a:ext cx="2414100" cy="546900"/>
          </a:xfrm>
          <a:prstGeom prst="rect">
            <a:avLst/>
          </a:prstGeom>
          <a:solidFill>
            <a:schemeClr val="tx2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bg2"/>
                </a:solidFill>
                <a:latin typeface="Sora SemiBold" pitchFamily="2" charset="0"/>
                <a:ea typeface="Raleway"/>
                <a:cs typeface="Sora SemiBold" pitchFamily="2" charset="0"/>
                <a:sym typeface="Raleway"/>
              </a:rPr>
              <a:t>ZMOD4510</a:t>
            </a:r>
            <a:endParaRPr sz="1200" b="1" dirty="0">
              <a:solidFill>
                <a:schemeClr val="bg2"/>
              </a:solidFill>
              <a:latin typeface="Sora SemiBold" pitchFamily="2" charset="0"/>
              <a:ea typeface="Raleway"/>
              <a:cs typeface="Sora SemiBold" pitchFamily="2" charset="0"/>
              <a:sym typeface="Raleway"/>
            </a:endParaRPr>
          </a:p>
        </p:txBody>
      </p:sp>
      <p:sp>
        <p:nvSpPr>
          <p:cNvPr id="33" name="Google Shape;271;p36">
            <a:extLst>
              <a:ext uri="{FF2B5EF4-FFF2-40B4-BE49-F238E27FC236}">
                <a16:creationId xmlns:a16="http://schemas.microsoft.com/office/drawing/2014/main" id="{DA9D708E-AF0B-6555-597C-0B30C6778AD8}"/>
              </a:ext>
            </a:extLst>
          </p:cNvPr>
          <p:cNvSpPr/>
          <p:nvPr/>
        </p:nvSpPr>
        <p:spPr>
          <a:xfrm>
            <a:off x="3364950" y="2414025"/>
            <a:ext cx="2414100" cy="546900"/>
          </a:xfrm>
          <a:prstGeom prst="rect">
            <a:avLst/>
          </a:prstGeom>
          <a:solidFill>
            <a:schemeClr val="tx2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bg2"/>
                </a:solidFill>
                <a:latin typeface="Sora SemiBold" pitchFamily="2" charset="0"/>
                <a:ea typeface="Raleway"/>
                <a:cs typeface="Sora SemiBold" pitchFamily="2" charset="0"/>
                <a:sym typeface="Raleway"/>
              </a:rPr>
              <a:t>MAX30100</a:t>
            </a:r>
            <a:endParaRPr sz="1200" b="1" dirty="0">
              <a:solidFill>
                <a:schemeClr val="bg2"/>
              </a:solidFill>
              <a:latin typeface="Sora SemiBold" pitchFamily="2" charset="0"/>
              <a:ea typeface="Raleway"/>
              <a:cs typeface="Sora SemiBold" pitchFamily="2" charset="0"/>
              <a:sym typeface="Raleway"/>
            </a:endParaRPr>
          </a:p>
        </p:txBody>
      </p:sp>
      <p:sp>
        <p:nvSpPr>
          <p:cNvPr id="34" name="Google Shape;272;p36">
            <a:extLst>
              <a:ext uri="{FF2B5EF4-FFF2-40B4-BE49-F238E27FC236}">
                <a16:creationId xmlns:a16="http://schemas.microsoft.com/office/drawing/2014/main" id="{C8D9F68E-E6EF-D3AB-FF76-242313925C15}"/>
              </a:ext>
            </a:extLst>
          </p:cNvPr>
          <p:cNvSpPr/>
          <p:nvPr/>
        </p:nvSpPr>
        <p:spPr>
          <a:xfrm>
            <a:off x="6009949" y="2414025"/>
            <a:ext cx="2414100" cy="546900"/>
          </a:xfrm>
          <a:prstGeom prst="rect">
            <a:avLst/>
          </a:prstGeom>
          <a:solidFill>
            <a:schemeClr val="tx2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bg2"/>
                </a:solidFill>
                <a:latin typeface="Sora SemiBold" pitchFamily="2" charset="0"/>
                <a:ea typeface="Raleway"/>
                <a:cs typeface="Sora SemiBold" pitchFamily="2" charset="0"/>
                <a:sym typeface="Raleway"/>
              </a:rPr>
              <a:t>MPU-6050</a:t>
            </a:r>
            <a:endParaRPr sz="1200" b="1" dirty="0">
              <a:solidFill>
                <a:schemeClr val="bg2"/>
              </a:solidFill>
              <a:latin typeface="Sora SemiBold" pitchFamily="2" charset="0"/>
              <a:ea typeface="Raleway"/>
              <a:cs typeface="Sora SemiBold" pitchFamily="2" charset="0"/>
              <a:sym typeface="Raleway"/>
            </a:endParaRPr>
          </a:p>
        </p:txBody>
      </p:sp>
      <p:sp>
        <p:nvSpPr>
          <p:cNvPr id="35" name="Google Shape;273;p36">
            <a:extLst>
              <a:ext uri="{FF2B5EF4-FFF2-40B4-BE49-F238E27FC236}">
                <a16:creationId xmlns:a16="http://schemas.microsoft.com/office/drawing/2014/main" id="{68D9736C-CBAF-355E-4B4D-631675FA3499}"/>
              </a:ext>
            </a:extLst>
          </p:cNvPr>
          <p:cNvSpPr/>
          <p:nvPr/>
        </p:nvSpPr>
        <p:spPr>
          <a:xfrm>
            <a:off x="6185050" y="4135200"/>
            <a:ext cx="2238900" cy="468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Open Sans"/>
                <a:cs typeface="Open Sans"/>
                <a:sym typeface="Open Sans"/>
              </a:rPr>
              <a:t>Integration with MAX30100</a:t>
            </a:r>
            <a:endParaRPr lang="ro-RO" sz="1200" dirty="0">
              <a:solidFill>
                <a:schemeClr val="tx1"/>
              </a:solidFill>
              <a:latin typeface="Lato" panose="020F050202020403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36" name="Google Shape;274;p36">
            <a:extLst>
              <a:ext uri="{FF2B5EF4-FFF2-40B4-BE49-F238E27FC236}">
                <a16:creationId xmlns:a16="http://schemas.microsoft.com/office/drawing/2014/main" id="{2AEA840E-DAA6-8FF3-7582-4769D9CBA47E}"/>
              </a:ext>
            </a:extLst>
          </p:cNvPr>
          <p:cNvSpPr txBox="1"/>
          <p:nvPr/>
        </p:nvSpPr>
        <p:spPr>
          <a:xfrm>
            <a:off x="1587150" y="1186303"/>
            <a:ext cx="5969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Sora SemiBold" pitchFamily="2" charset="0"/>
                <a:ea typeface="Raleway"/>
                <a:cs typeface="Sora SemiBold" pitchFamily="2" charset="0"/>
                <a:sym typeface="Raleway"/>
              </a:rPr>
              <a:t>Why do we use those components?</a:t>
            </a:r>
            <a:endParaRPr sz="1200" dirty="0">
              <a:solidFill>
                <a:schemeClr val="dk1"/>
              </a:solidFill>
              <a:latin typeface="Sora SemiBold" pitchFamily="2" charset="0"/>
              <a:ea typeface="Raleway"/>
              <a:cs typeface="Sora SemiBold" pitchFamily="2" charset="0"/>
              <a:sym typeface="Raleway"/>
            </a:endParaRPr>
          </a:p>
        </p:txBody>
      </p:sp>
      <p:cxnSp>
        <p:nvCxnSpPr>
          <p:cNvPr id="37" name="Google Shape;275;p36">
            <a:extLst>
              <a:ext uri="{FF2B5EF4-FFF2-40B4-BE49-F238E27FC236}">
                <a16:creationId xmlns:a16="http://schemas.microsoft.com/office/drawing/2014/main" id="{5D5D784D-6A48-5F21-C582-0A3736432429}"/>
              </a:ext>
            </a:extLst>
          </p:cNvPr>
          <p:cNvCxnSpPr>
            <a:cxnSpLocks/>
            <a:stCxn id="23" idx="1"/>
          </p:cNvCxnSpPr>
          <p:nvPr/>
        </p:nvCxnSpPr>
        <p:spPr>
          <a:xfrm rot="10800000" flipV="1">
            <a:off x="1587150" y="1869325"/>
            <a:ext cx="1546500" cy="54465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276;p36">
            <a:extLst>
              <a:ext uri="{FF2B5EF4-FFF2-40B4-BE49-F238E27FC236}">
                <a16:creationId xmlns:a16="http://schemas.microsoft.com/office/drawing/2014/main" id="{CD218CE5-2432-511A-BC87-4ECD905470FA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6010350" y="1869325"/>
            <a:ext cx="1086486" cy="54465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" name="Google Shape;277;p36">
            <a:extLst>
              <a:ext uri="{FF2B5EF4-FFF2-40B4-BE49-F238E27FC236}">
                <a16:creationId xmlns:a16="http://schemas.microsoft.com/office/drawing/2014/main" id="{151F7403-3DB5-E30C-4361-0135F23C8B4E}"/>
              </a:ext>
            </a:extLst>
          </p:cNvPr>
          <p:cNvCxnSpPr>
            <a:stCxn id="23" idx="2"/>
            <a:endCxn id="33" idx="0"/>
          </p:cNvCxnSpPr>
          <p:nvPr/>
        </p:nvCxnSpPr>
        <p:spPr>
          <a:xfrm>
            <a:off x="4572000" y="2187475"/>
            <a:ext cx="0" cy="226500"/>
          </a:xfrm>
          <a:prstGeom prst="straightConnector1">
            <a:avLst/>
          </a:prstGeom>
          <a:noFill/>
          <a:ln w="127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Google Shape;278;p36">
            <a:extLst>
              <a:ext uri="{FF2B5EF4-FFF2-40B4-BE49-F238E27FC236}">
                <a16:creationId xmlns:a16="http://schemas.microsoft.com/office/drawing/2014/main" id="{B704B99C-CC9D-AB58-46C0-0D0A13EFF52E}"/>
              </a:ext>
            </a:extLst>
          </p:cNvPr>
          <p:cNvSpPr/>
          <p:nvPr/>
        </p:nvSpPr>
        <p:spPr>
          <a:xfrm>
            <a:off x="720000" y="3040150"/>
            <a:ext cx="119400" cy="1563300"/>
          </a:xfrm>
          <a:prstGeom prst="leftBracket">
            <a:avLst>
              <a:gd name="adj" fmla="val 0"/>
            </a:avLst>
          </a:prstGeom>
          <a:noFill/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79;p36">
            <a:extLst>
              <a:ext uri="{FF2B5EF4-FFF2-40B4-BE49-F238E27FC236}">
                <a16:creationId xmlns:a16="http://schemas.microsoft.com/office/drawing/2014/main" id="{859D5545-0020-A691-7A06-1E1FC006D1AE}"/>
              </a:ext>
            </a:extLst>
          </p:cNvPr>
          <p:cNvSpPr/>
          <p:nvPr/>
        </p:nvSpPr>
        <p:spPr>
          <a:xfrm>
            <a:off x="3364950" y="3040150"/>
            <a:ext cx="119400" cy="1563300"/>
          </a:xfrm>
          <a:prstGeom prst="leftBracket">
            <a:avLst>
              <a:gd name="adj" fmla="val 0"/>
            </a:avLst>
          </a:prstGeom>
          <a:noFill/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80;p36">
            <a:extLst>
              <a:ext uri="{FF2B5EF4-FFF2-40B4-BE49-F238E27FC236}">
                <a16:creationId xmlns:a16="http://schemas.microsoft.com/office/drawing/2014/main" id="{6CDBA701-C74B-B7DE-2897-BE64E55D4D4C}"/>
              </a:ext>
            </a:extLst>
          </p:cNvPr>
          <p:cNvSpPr/>
          <p:nvPr/>
        </p:nvSpPr>
        <p:spPr>
          <a:xfrm>
            <a:off x="6010350" y="3040150"/>
            <a:ext cx="119400" cy="1563300"/>
          </a:xfrm>
          <a:prstGeom prst="leftBracket">
            <a:avLst>
              <a:gd name="adj" fmla="val 0"/>
            </a:avLst>
          </a:prstGeom>
          <a:noFill/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E30B962-04B5-38ED-BFBA-4D1929CAB314}"/>
              </a:ext>
            </a:extLst>
          </p:cNvPr>
          <p:cNvGrpSpPr/>
          <p:nvPr/>
        </p:nvGrpSpPr>
        <p:grpSpPr>
          <a:xfrm rot="20980583" flipH="1">
            <a:off x="-757522" y="4792552"/>
            <a:ext cx="2306313" cy="636435"/>
            <a:chOff x="6834863" y="4316954"/>
            <a:chExt cx="3224070" cy="889693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A51055FB-69D4-2590-32C8-0ED9B3D64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4863" y="4316954"/>
              <a:ext cx="2724238" cy="815572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6E137A3C-10B0-87E5-555D-88F53CD9A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20"/>
              <a:ext cx="2319946" cy="695228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87BEC790-0C9B-4BA4-BCFD-66499407D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0E30CEC-9A2D-0F72-A700-359F35BB10D7}"/>
              </a:ext>
            </a:extLst>
          </p:cNvPr>
          <p:cNvGrpSpPr/>
          <p:nvPr/>
        </p:nvGrpSpPr>
        <p:grpSpPr>
          <a:xfrm rot="12837692" flipH="1">
            <a:off x="6326453" y="-113408"/>
            <a:ext cx="4029112" cy="890878"/>
            <a:chOff x="6834571" y="4317827"/>
            <a:chExt cx="3224362" cy="888820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1294DBC3-765A-6975-A2C9-05D01803E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4571" y="4317827"/>
              <a:ext cx="2724237" cy="815571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E4D2C8A4-7CD9-3450-5C77-FD0B9ABEE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20"/>
              <a:ext cx="2319946" cy="695228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B33A3777-50BA-8656-C9CA-8C47778BA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8499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Consulting with Morph Transition by Slidesgo">
  <a:themeElements>
    <a:clrScheme name="Custom 3">
      <a:dk1>
        <a:srgbClr val="000000"/>
      </a:dk1>
      <a:lt1>
        <a:srgbClr val="2C2A96"/>
      </a:lt1>
      <a:dk2>
        <a:srgbClr val="FFFFFF"/>
      </a:dk2>
      <a:lt2>
        <a:srgbClr val="667EF1"/>
      </a:lt2>
      <a:accent1>
        <a:srgbClr val="B2BE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963</TotalTime>
  <Words>230</Words>
  <Application>Microsoft Office PowerPoint</Application>
  <PresentationFormat>On-screen Show (16:9)</PresentationFormat>
  <Paragraphs>54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Calibri</vt:lpstr>
      <vt:lpstr>Segoe UI</vt:lpstr>
      <vt:lpstr>Lato</vt:lpstr>
      <vt:lpstr>Sora SemiBold</vt:lpstr>
      <vt:lpstr>Bebas Neue</vt:lpstr>
      <vt:lpstr>Arial</vt:lpstr>
      <vt:lpstr>Consulting with Morph Transition by Slidesgo</vt:lpstr>
      <vt:lpstr>BRATARA SMART</vt:lpstr>
      <vt:lpstr>Why is valuable?</vt:lpstr>
      <vt:lpstr>System Components</vt:lpstr>
      <vt:lpstr>Communication Technologies</vt:lpstr>
      <vt:lpstr>System Utility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Consulting with Morph Transition</dc:title>
  <dc:creator>Cristian Ghervasa</dc:creator>
  <cp:keywords>Marius-Ciprian Branzila</cp:keywords>
  <cp:lastModifiedBy>Admin</cp:lastModifiedBy>
  <cp:revision>8</cp:revision>
  <dcterms:created xsi:type="dcterms:W3CDTF">2021-10-12T08:06:43Z</dcterms:created>
  <dcterms:modified xsi:type="dcterms:W3CDTF">2025-05-10T07:47:10Z</dcterms:modified>
</cp:coreProperties>
</file>